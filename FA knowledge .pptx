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57" r:id="rId5"/>
    <p:sldId id="259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440690" y="338455"/>
          <a:ext cx="11483340" cy="22802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5820"/>
                <a:gridCol w="1377950"/>
                <a:gridCol w="9259570"/>
              </a:tblGrid>
              <a:tr h="3829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Status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Remark</a:t>
                      </a:r>
                      <a:endParaRPr lang="en-US"/>
                    </a:p>
                  </a:txBody>
                  <a:tcPr/>
                </a:tc>
              </a:tr>
              <a:tr h="215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Basic knowledge of FET</a:t>
                      </a:r>
                      <a:endParaRPr lang="en-US"/>
                    </a:p>
                  </a:txBody>
                  <a:tcPr/>
                </a:tc>
              </a:tr>
              <a:tr h="3829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Basic knowledge of package </a:t>
                      </a:r>
                      <a:endParaRPr lang="en-US"/>
                    </a:p>
                  </a:txBody>
                  <a:tcPr/>
                </a:tc>
              </a:tr>
              <a:tr h="382905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Common failure</a:t>
                      </a:r>
                      <a:endParaRPr lang="en-US"/>
                    </a:p>
                  </a:txBody>
                  <a:tcPr/>
                </a:tc>
              </a:tr>
              <a:tr h="382905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fab process of Cowos</a:t>
                      </a:r>
                      <a:endParaRPr lang="en-US"/>
                    </a:p>
                  </a:txBody>
                  <a:tcPr/>
                </a:tc>
              </a:tr>
              <a:tr h="382905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proc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525780" y="3429000"/>
            <a:ext cx="9832340" cy="206121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/>
              <a:t>common techniques, real-world use cases, challenges, and future directions</a:t>
            </a:r>
            <a:endParaRPr sz="1600"/>
          </a:p>
          <a:p>
            <a:endParaRPr sz="1600"/>
          </a:p>
          <a:p>
            <a:r>
              <a:rPr lang="en-US" sz="1600"/>
              <a:t>any </a:t>
            </a:r>
            <a:r>
              <a:rPr sz="1600">
                <a:sym typeface="+mn-ea"/>
              </a:rPr>
              <a:t>real-world use </a:t>
            </a:r>
            <a:r>
              <a:rPr lang="en-US" sz="1600">
                <a:sym typeface="+mn-ea"/>
              </a:rPr>
              <a:t>Failure analysis </a:t>
            </a:r>
            <a:r>
              <a:rPr sz="1600">
                <a:sym typeface="+mn-ea"/>
              </a:rPr>
              <a:t>cases</a:t>
            </a:r>
            <a:r>
              <a:rPr lang="en-US" sz="1600">
                <a:sym typeface="+mn-ea"/>
              </a:rPr>
              <a:t> with below key words.</a:t>
            </a:r>
            <a:endParaRPr lang="en-US" sz="1600">
              <a:sym typeface="+mn-ea"/>
            </a:endParaRPr>
          </a:p>
          <a:p>
            <a:r>
              <a:rPr lang="en-US" altLang="en-US" sz="1600">
                <a:sym typeface="+mn-ea"/>
              </a:rPr>
              <a:t>- Curve Tracer, Focused Ion Beam (FIB), Scanning Electron Microscope (SEM))</a:t>
            </a:r>
            <a:endParaRPr lang="en-US" altLang="en-US" sz="1600">
              <a:sym typeface="+mn-ea"/>
            </a:endParaRPr>
          </a:p>
          <a:p>
            <a:r>
              <a:rPr lang="en-US" altLang="en-US" sz="1600">
                <a:sym typeface="+mn-ea"/>
              </a:rPr>
              <a:t>- Utilize scan diagnosis, Automatic Test Pattern Generation (ATPG)), and memory Built-In Self-Test (BIST) tools for fault isolation.</a:t>
            </a:r>
            <a:endParaRPr lang="en-US" altLang="en-US" sz="1600">
              <a:sym typeface="+mn-ea"/>
            </a:endParaRPr>
          </a:p>
          <a:p>
            <a:r>
              <a:rPr lang="en-US" altLang="en-US" sz="1600">
                <a:sym typeface="+mn-ea"/>
              </a:rPr>
              <a:t>- Fin Field-Effect Transistor/Gate-All-Around Field-Effect Transistor (FinFET/GAA)</a:t>
            </a:r>
            <a:endParaRPr lang="en-US" altLang="en-US" sz="1600">
              <a:sym typeface="+mn-ea"/>
            </a:endParaRPr>
          </a:p>
          <a:p>
            <a:r>
              <a:rPr lang="en-US" altLang="en-US" sz="1600">
                <a:sym typeface="+mn-ea"/>
              </a:rPr>
              <a:t>- Emission Microscope (EMMI) and Optical Beam Induced Resistance Change (OBIRCH)</a:t>
            </a:r>
            <a:endParaRPr lang="en-US" altLang="en-US" sz="160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61290" y="1352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None/>
            </a:pPr>
            <a:r>
              <a:rPr lang="en-US">
                <a:sym typeface="+mn-ea"/>
              </a:rPr>
              <a:t>FA workflow</a:t>
            </a:r>
            <a:endParaRPr lang="en-US"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8130" y="324485"/>
            <a:ext cx="3803650" cy="207645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36855" y="-6060440"/>
            <a:ext cx="7324725" cy="1606677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Bef>
                <a:spcPct val="0"/>
              </a:spcBef>
              <a:spcAft>
                <a:spcPct val="60000"/>
              </a:spcAft>
            </a:pPr>
            <a:r>
              <a:rPr sz="2200" b="1">
                <a:latin typeface="Google Sans"/>
                <a:ea typeface="Google Sans"/>
              </a:rPr>
              <a:t>The Workflow: A Seven-Stage Journey</a:t>
            </a:r>
            <a:endParaRPr sz="2200" b="1">
              <a:latin typeface="Google Sans"/>
              <a:ea typeface="Google Sans"/>
            </a:endParaRPr>
          </a:p>
          <a:p>
            <a:pPr>
              <a:spcBef>
                <a:spcPct val="0"/>
              </a:spcBef>
            </a:pPr>
            <a:r>
              <a:rPr sz="1600">
                <a:latin typeface="Google Sans Text"/>
                <a:ea typeface="Google Sans Text"/>
              </a:rPr>
              <a:t>This comprehensive image details how an abstract, incoming failure (left) is systematically isolated, exposed, imaged, and chemically analyzed, concluding with a final forensic report (right). Each major phase features the dedicated professional instrumentation required.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  <a:spcAft>
                <a:spcPct val="60000"/>
              </a:spcAft>
            </a:pPr>
            <a:r>
              <a:rPr sz="1900" b="1">
                <a:latin typeface="Google Sans"/>
                <a:ea typeface="Google Sans"/>
              </a:rPr>
              <a:t>Stage 1: Incoming Failure (The "Crime Scene")</a:t>
            </a:r>
            <a:endParaRPr sz="1900" b="1">
              <a:latin typeface="Google Sans"/>
              <a:ea typeface="Google Sans"/>
            </a:endParaRPr>
          </a:p>
          <a:p>
            <a:pPr>
              <a:spcBef>
                <a:spcPct val="0"/>
              </a:spcBef>
            </a:pPr>
            <a:r>
              <a:rPr sz="1600">
                <a:latin typeface="Google Sans Text"/>
                <a:ea typeface="Google Sans Text"/>
              </a:rPr>
              <a:t>The workflow begins with a packaged chip that has failed initial testing. This stage sets up the problem: a non-functional device. We categorize the symptom.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  <a:spcAft>
                <a:spcPct val="60000"/>
              </a:spcAft>
            </a:pPr>
            <a:r>
              <a:rPr sz="1900" b="1">
                <a:latin typeface="Google Sans"/>
                <a:ea typeface="Google Sans"/>
              </a:rPr>
              <a:t>Stage 2: Electrical Isolation (Finding the Culprit)</a:t>
            </a:r>
            <a:endParaRPr sz="1900" b="1">
              <a:latin typeface="Google Sans"/>
              <a:ea typeface="Google Sans"/>
            </a:endParaRPr>
          </a:p>
          <a:p>
            <a:pPr>
              <a:spcBef>
                <a:spcPct val="0"/>
              </a:spcBef>
            </a:pPr>
            <a:r>
              <a:rPr sz="1600">
                <a:latin typeface="Google Sans Text"/>
                <a:ea typeface="Google Sans Text"/>
              </a:rPr>
              <a:t>Before cutting, we must know </a:t>
            </a:r>
            <a:r>
              <a:rPr sz="1600" i="1">
                <a:latin typeface="Google Sans Text"/>
                <a:ea typeface="Google Sans Text"/>
              </a:rPr>
              <a:t>where</a:t>
            </a:r>
            <a:r>
              <a:rPr sz="1600">
                <a:latin typeface="Google Sans Text"/>
                <a:ea typeface="Google Sans Text"/>
              </a:rPr>
              <a:t> to look. As shown, we use a manual prober or automatic test equipment (ATE) to measure </a:t>
            </a:r>
            <a:r>
              <a:rPr sz="1600" b="1">
                <a:latin typeface="Google Sans Text"/>
                <a:ea typeface="Google Sans Text"/>
              </a:rPr>
              <a:t>Curve Tracing ($I-V$)</a:t>
            </a:r>
            <a:r>
              <a:rPr sz="1600">
                <a:latin typeface="Google Sans Text"/>
                <a:ea typeface="Google Sans Text"/>
              </a:rPr>
              <a:t>. An insect shows the telltale signature of a </a:t>
            </a:r>
            <a:r>
              <a:rPr sz="1600" b="1">
                <a:latin typeface="Google Sans Text"/>
                <a:ea typeface="Google Sans Text"/>
              </a:rPr>
              <a:t>failing tracer</a:t>
            </a:r>
            <a:r>
              <a:rPr sz="1600">
                <a:latin typeface="Google Sans Text"/>
                <a:ea typeface="Google Sans Text"/>
              </a:rPr>
              <a:t> (high leakage current). We then use a system like </a:t>
            </a:r>
            <a:r>
              <a:rPr sz="1600" b="1">
                <a:latin typeface="Google Sans Text"/>
                <a:ea typeface="Google Sans Text"/>
              </a:rPr>
              <a:t>EMMI (Emission Microscopy)</a:t>
            </a:r>
            <a:r>
              <a:rPr sz="1600">
                <a:latin typeface="Google Sans Text"/>
                <a:ea typeface="Google Sans Text"/>
              </a:rPr>
              <a:t> or thermal laser stimulation to identify the exact spatial coordinate of the fault, visualized as an </a:t>
            </a:r>
            <a:r>
              <a:rPr sz="1600" b="1">
                <a:latin typeface="Google Sans Text"/>
                <a:ea typeface="Google Sans Text"/>
              </a:rPr>
              <a:t>EMMI hotspot</a:t>
            </a:r>
            <a:r>
              <a:rPr sz="1600">
                <a:latin typeface="Google Sans Text"/>
                <a:ea typeface="Google Sans Text"/>
              </a:rPr>
              <a:t>.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  <a:spcAft>
                <a:spcPct val="60000"/>
              </a:spcAft>
            </a:pPr>
            <a:r>
              <a:rPr sz="1900" b="1">
                <a:latin typeface="Google Sans"/>
                <a:ea typeface="Google Sans"/>
              </a:rPr>
              <a:t>Stage 3: Non-Destructive Physical Analysis (Checking the Container)</a:t>
            </a:r>
            <a:endParaRPr sz="1900" b="1">
              <a:latin typeface="Google Sans"/>
              <a:ea typeface="Google Sans"/>
            </a:endParaRPr>
          </a:p>
          <a:p>
            <a:pPr>
              <a:spcBef>
                <a:spcPct val="0"/>
              </a:spcBef>
            </a:pPr>
            <a:r>
              <a:rPr sz="1600">
                <a:latin typeface="Google Sans Text"/>
                <a:ea typeface="Google Sans Text"/>
              </a:rPr>
              <a:t>Often overlooked, we must check the structural integrity of the entire package before proceeding. As illustrated, </a:t>
            </a:r>
            <a:r>
              <a:rPr sz="1600" b="1">
                <a:latin typeface="Google Sans Text"/>
                <a:ea typeface="Google Sans Text"/>
              </a:rPr>
              <a:t>Acoustic Microscopy (SAM)</a:t>
            </a:r>
            <a:r>
              <a:rPr sz="1600">
                <a:latin typeface="Google Sans Text"/>
                <a:ea typeface="Google Sans Text"/>
              </a:rPr>
              <a:t> or 2D/3D X-ray allows us to inspect internal packaging defects, such as the </a:t>
            </a:r>
            <a:r>
              <a:rPr sz="1600" b="1">
                <a:latin typeface="Google Sans Text"/>
                <a:ea typeface="Google Sans Text"/>
              </a:rPr>
              <a:t>internal delamination</a:t>
            </a:r>
            <a:r>
              <a:rPr sz="1600">
                <a:latin typeface="Google Sans Text"/>
                <a:ea typeface="Google Sans Text"/>
              </a:rPr>
              <a:t> between the silicon die and the mold compound visible in the SAM inset.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  <a:spcAft>
                <a:spcPct val="60000"/>
              </a:spcAft>
            </a:pPr>
            <a:r>
              <a:rPr sz="1900" b="1">
                <a:latin typeface="Google Sans"/>
                <a:ea typeface="Google Sans"/>
              </a:rPr>
              <a:t>Stage 4: De-Packaging &amp; De-Layering (Manual Surgery)</a:t>
            </a:r>
            <a:endParaRPr sz="1900" b="1">
              <a:latin typeface="Google Sans"/>
              <a:ea typeface="Google Sans"/>
            </a:endParaRPr>
          </a:p>
          <a:p>
            <a:pPr>
              <a:spcBef>
                <a:spcPct val="0"/>
              </a:spcBef>
            </a:pPr>
            <a:r>
              <a:rPr sz="1600">
                <a:latin typeface="Google Sans Text"/>
                <a:ea typeface="Google Sans Text"/>
              </a:rPr>
              <a:t>Now, we must physically access the silicon die. As shown, we may use chemical decapsulation (not pictured) and then transition to </a:t>
            </a:r>
            <a:r>
              <a:rPr sz="1600" b="1">
                <a:latin typeface="Google Sans Text"/>
                <a:ea typeface="Google Sans Text"/>
              </a:rPr>
              <a:t>Parallel Polishing</a:t>
            </a:r>
            <a:r>
              <a:rPr sz="1600">
                <a:latin typeface="Google Sans Text"/>
                <a:ea typeface="Google Sans Text"/>
              </a:rPr>
              <a:t>. A precision tool like the multi-axis robotic polisher shown can strip away dozens of metal interconnect layers, flattening the sample until we stop precisely at a target metal level.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  <a:spcAft>
                <a:spcPct val="60000"/>
              </a:spcAft>
            </a:pPr>
            <a:r>
              <a:rPr sz="1900" b="1">
                <a:latin typeface="Google Sans"/>
                <a:ea typeface="Google Sans"/>
              </a:rPr>
              <a:t>Stage 5: FIB Isolation &amp; Sample Prep (Nano-Surgery)</a:t>
            </a:r>
            <a:endParaRPr sz="1900" b="1">
              <a:latin typeface="Google Sans"/>
              <a:ea typeface="Google Sans"/>
            </a:endParaRPr>
          </a:p>
          <a:p>
            <a:pPr>
              <a:spcBef>
                <a:spcPct val="0"/>
              </a:spcBef>
            </a:pPr>
            <a:r>
              <a:rPr sz="1600">
                <a:latin typeface="Google Sans Text"/>
                <a:ea typeface="Google Sans Text"/>
              </a:rPr>
              <a:t>This is the most critical extraction step. Once the failure area is narrowed down to a single transistor, a </a:t>
            </a:r>
            <a:r>
              <a:rPr sz="1600" b="1">
                <a:latin typeface="Google Sans Text"/>
                <a:ea typeface="Google Sans Text"/>
              </a:rPr>
              <a:t>Dual-Beam FIB (Focused Ion Beam)</a:t>
            </a:r>
            <a:r>
              <a:rPr sz="1600">
                <a:latin typeface="Google Sans Text"/>
                <a:ea typeface="Google Sans Text"/>
              </a:rPr>
              <a:t> system is used. The FIB cuts a microscopic cross-section. An inset reveals the high-precision </a:t>
            </a:r>
            <a:r>
              <a:rPr sz="1600" b="1">
                <a:latin typeface="Google Sans Text"/>
                <a:ea typeface="Google Sans Text"/>
              </a:rPr>
              <a:t>FinFET Lamella Extraction</a:t>
            </a:r>
            <a:r>
              <a:rPr sz="1600">
                <a:latin typeface="Google Sans Text"/>
                <a:ea typeface="Google Sans Text"/>
              </a:rPr>
              <a:t>, taking a slice less than 30nm thick from a 3D fin structure.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  <a:spcAft>
                <a:spcPct val="60000"/>
              </a:spcAft>
            </a:pPr>
            <a:r>
              <a:rPr sz="1900" b="1">
                <a:latin typeface="Google Sans"/>
                <a:ea typeface="Google Sans"/>
              </a:rPr>
              <a:t>Stage 6: Advanced Imaging &amp; Analysis (The Verdict)</a:t>
            </a:r>
            <a:endParaRPr sz="1900" b="1">
              <a:latin typeface="Google Sans"/>
              <a:ea typeface="Google Sans"/>
            </a:endParaRPr>
          </a:p>
          <a:p>
            <a:pPr>
              <a:spcBef>
                <a:spcPct val="0"/>
              </a:spcBef>
            </a:pPr>
            <a:r>
              <a:rPr sz="1600">
                <a:latin typeface="Google Sans Text"/>
                <a:ea typeface="Google Sans Text"/>
              </a:rPr>
              <a:t>This is where sub-nanometer vision is achieved. The workflow highlights two essential tools: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  <a:buFont typeface="Arial" panose="020B0604020202090204"/>
              <a:buChar char="•"/>
            </a:pPr>
            <a:r>
              <a:rPr sz="1600" b="1">
                <a:latin typeface="Google Sans Text"/>
                <a:ea typeface="Google Sans Text"/>
              </a:rPr>
              <a:t>Scanning Electron Microscopy (SEM) / EDS:</a:t>
            </a:r>
            <a:r>
              <a:rPr sz="1600">
                <a:latin typeface="Google Sans Text"/>
                <a:ea typeface="Google Sans Text"/>
              </a:rPr>
              <a:t> A lab scientist uses the SEM for detailed </a:t>
            </a:r>
            <a:r>
              <a:rPr sz="1600" b="1">
                <a:latin typeface="Google Sans Text"/>
                <a:ea typeface="Google Sans Text"/>
              </a:rPr>
              <a:t>top-down imaging</a:t>
            </a:r>
            <a:r>
              <a:rPr sz="1600">
                <a:latin typeface="Google Sans Text"/>
                <a:ea typeface="Google Sans Text"/>
              </a:rPr>
              <a:t> of metal lines. Simultaneously, an inset shows </a:t>
            </a:r>
            <a:r>
              <a:rPr sz="1600" b="1">
                <a:latin typeface="Google Sans Text"/>
                <a:ea typeface="Google Sans Text"/>
              </a:rPr>
              <a:t>EDS (Energy-Dispersive X-ray Spectroscopy) Mapping</a:t>
            </a:r>
            <a:r>
              <a:rPr sz="1600">
                <a:latin typeface="Google Sans Text"/>
                <a:ea typeface="Google Sans Text"/>
              </a:rPr>
              <a:t>, providing a color-coded map of elemental composition to identify contaminants.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  <a:buFont typeface="Arial" panose="020B0604020202090204"/>
              <a:buChar char="•"/>
            </a:pPr>
            <a:r>
              <a:rPr sz="1600" b="1">
                <a:latin typeface="Google Sans Text"/>
                <a:ea typeface="Google Sans Text"/>
              </a:rPr>
              <a:t>High-Resolution TEM:</a:t>
            </a:r>
            <a:r>
              <a:rPr sz="1600">
                <a:latin typeface="Google Sans Text"/>
                <a:ea typeface="Google Sans Text"/>
              </a:rPr>
              <a:t> The FIB lamella is transferred to the </a:t>
            </a:r>
            <a:r>
              <a:rPr sz="1600" b="1">
                <a:latin typeface="Google Sans Text"/>
                <a:ea typeface="Google Sans Text"/>
              </a:rPr>
              <a:t>TEM (Transmission Electron Microscope)</a:t>
            </a:r>
            <a:r>
              <a:rPr sz="1600">
                <a:latin typeface="Google Sans Text"/>
                <a:ea typeface="Google Sans Text"/>
              </a:rPr>
              <a:t>. As shown in the inset, the TEM is the </a:t>
            </a:r>
            <a:r>
              <a:rPr sz="1600" i="1">
                <a:latin typeface="Google Sans Text"/>
                <a:ea typeface="Google Sans Text"/>
              </a:rPr>
              <a:t>only</a:t>
            </a:r>
            <a:r>
              <a:rPr sz="1600">
                <a:latin typeface="Google Sans Text"/>
                <a:ea typeface="Google Sans Text"/>
              </a:rPr>
              <a:t> tool capable of providing atomic-resolution cross-sections. The final image clearly identifies the root cause: a </a:t>
            </a:r>
            <a:r>
              <a:rPr sz="1600" b="1">
                <a:latin typeface="Google Sans Text"/>
                <a:ea typeface="Google Sans Text"/>
              </a:rPr>
              <a:t>FinFET gate dielectric defect</a:t>
            </a:r>
            <a:r>
              <a:rPr sz="1600">
                <a:latin typeface="Google Sans Text"/>
                <a:ea typeface="Google Sans Text"/>
              </a:rPr>
              <a:t>.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  <a:spcAft>
                <a:spcPct val="60000"/>
              </a:spcAft>
            </a:pPr>
            <a:r>
              <a:rPr sz="1900" b="1">
                <a:latin typeface="Google Sans"/>
                <a:ea typeface="Google Sans"/>
              </a:rPr>
              <a:t>Stage 7: Root Cause Analysis &amp; Reporting (The Case is Closed)</a:t>
            </a:r>
            <a:endParaRPr sz="1900" b="1">
              <a:latin typeface="Google Sans"/>
              <a:ea typeface="Google Sans"/>
            </a:endParaRPr>
          </a:p>
          <a:p>
            <a:pPr>
              <a:spcBef>
                <a:spcPct val="0"/>
              </a:spcBef>
            </a:pPr>
            <a:r>
              <a:rPr sz="1600">
                <a:latin typeface="Google Sans Text"/>
                <a:ea typeface="Google Sans Text"/>
              </a:rPr>
              <a:t>Finally, the engineering team reviews all isolated data (layout, EMMI data, SEM images, and TEM cross-sections). They connect the final physical defect (the TEM breakdown) back to the original electrical symptom. The outcome is a definitive forensic report, visualized on the final tablet: </a:t>
            </a:r>
            <a:r>
              <a:rPr sz="1600" b="1">
                <a:latin typeface="Google Sans Text"/>
                <a:ea typeface="Google Sans Text"/>
              </a:rPr>
              <a:t>"FA REPORT: GATE OXIDE BREAKDOWN DUE TO LER (Line Edge Roughness)."</a:t>
            </a:r>
            <a:endParaRPr sz="1600" b="1">
              <a:latin typeface="Google Sans Text"/>
              <a:ea typeface="Google Sans Tex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61290" y="135255"/>
            <a:ext cx="6096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None/>
            </a:pPr>
            <a:r>
              <a:rPr lang="en-US">
                <a:sym typeface="+mn-ea"/>
              </a:rPr>
              <a:t>Basic knowledge of FET - understand P/N</a:t>
            </a:r>
            <a:endParaRPr lang="en-US">
              <a:sym typeface="+mn-ea"/>
            </a:endParaRPr>
          </a:p>
          <a:p>
            <a:pPr>
              <a:buNone/>
            </a:pPr>
            <a:endParaRPr lang="en-US">
              <a:sym typeface="+mn-ea"/>
            </a:endParaRPr>
          </a:p>
          <a:p>
            <a:pPr>
              <a:buNone/>
            </a:pPr>
            <a:r>
              <a:rPr lang="en-US">
                <a:sym typeface="+mn-ea"/>
              </a:rPr>
              <a:t>n channel : G=+ve, current flow</a:t>
            </a:r>
            <a:endParaRPr lang="en-US">
              <a:sym typeface="+mn-ea"/>
            </a:endParaRPr>
          </a:p>
          <a:p>
            <a:pPr>
              <a:buNone/>
            </a:pPr>
            <a:r>
              <a:rPr lang="en-US">
                <a:sym typeface="+mn-ea"/>
              </a:rPr>
              <a:t>P channel :</a:t>
            </a:r>
            <a:endParaRPr lang="en-US">
              <a:sym typeface="+mn-ea"/>
            </a:endParaRPr>
          </a:p>
          <a:p>
            <a:pPr>
              <a:buNone/>
            </a:pPr>
            <a:r>
              <a:rPr lang="en-US">
                <a:sym typeface="+mn-ea"/>
              </a:rPr>
              <a:t>n channel  :</a:t>
            </a:r>
            <a:endParaRPr lang="en-US">
              <a:sym typeface="+mn-ea"/>
            </a:endParaRPr>
          </a:p>
        </p:txBody>
      </p:sp>
      <p:pic>
        <p:nvPicPr>
          <p:cNvPr id="11" name="Picture 10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61290" y="1352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None/>
            </a:pPr>
            <a:r>
              <a:rPr lang="en-US">
                <a:sym typeface="+mn-ea"/>
              </a:rPr>
              <a:t>Basic knowledge of FET</a:t>
            </a:r>
            <a:endParaRPr lang="en-US">
              <a:sym typeface="+mn-ea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421005" y="733425"/>
            <a:ext cx="4468495" cy="2249805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6118860" y="218440"/>
            <a:ext cx="5678805" cy="642112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310515" y="3115310"/>
            <a:ext cx="5643880" cy="3190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04*180"/>
  <p:tag name="TABLE_ENDDRAG_RECT" val="34*26*904*18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3945</Words>
  <Application>WPS Presentation</Application>
  <PresentationFormat>Widescreen</PresentationFormat>
  <Paragraphs>57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汉仪旗黑</vt:lpstr>
      <vt:lpstr>Arial Unicode MS</vt:lpstr>
      <vt:lpstr>宋体-简</vt:lpstr>
      <vt:lpstr>Google Sans</vt:lpstr>
      <vt:lpstr>Google Sans Text</vt:lpstr>
      <vt:lpstr>Arial</vt:lpstr>
      <vt:lpstr>Thonburi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ksheo</dc:creator>
  <cp:lastModifiedBy>Heo Kuan Shun</cp:lastModifiedBy>
  <cp:revision>5</cp:revision>
  <dcterms:created xsi:type="dcterms:W3CDTF">2026-05-24T14:51:44Z</dcterms:created>
  <dcterms:modified xsi:type="dcterms:W3CDTF">2026-05-24T14:51:44Z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87105AB4F7589F30585B116AFBADCB45_41</vt:lpwstr>
  </property>
  <property fmtid="{D5CDD505-2E9C-101B-9397-08002B2CF9AE}" pid="3" name="KSOProductBuildVer">
    <vt:lpwstr>1033-12.1.25880.25880</vt:lpwstr>
  </property>
</Properties>
</file>